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B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635000" y="762000"/>
            <a:ext cx="10922000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3B4C8F"/>
                </a:solidFill>
                <a:latin typeface="Lora" pitchFamily="34" charset="0"/>
                <a:ea typeface="Lora" pitchFamily="34" charset="-122"/>
                <a:cs typeface="Lora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635000" y="1530350"/>
            <a:ext cx="10744200" cy="451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3B4C8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635000" y="762000"/>
            <a:ext cx="10922000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3B4C8F"/>
                </a:solidFill>
                <a:latin typeface="Lora" pitchFamily="34" charset="0"/>
                <a:ea typeface="Lora" pitchFamily="34" charset="-122"/>
                <a:cs typeface="Lora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635000" y="1530350"/>
            <a:ext cx="10744200" cy="451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3B4C8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374A7C"/>
          </a:solidFill>
          <a:ln/>
        </p:spPr>
      </p:sp>
      <p:pic>
        <p:nvPicPr>
          <p:cNvPr id="3" name="Image 0" descr="Хохломской орнамент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6096000" cy="508000"/>
          </a:xfrm>
          <a:prstGeom prst="rect">
            <a:avLst/>
          </a:prstGeom>
        </p:spPr>
      </p:pic>
      <p:sp>
        <p:nvSpPr>
          <p:cNvPr id="4" name="Text 1"/>
          <p:cNvSpPr/>
          <p:nvPr>
            <p:ph type="title"/>
          </p:nvPr>
        </p:nvSpPr>
        <p:spPr>
          <a:xfrm>
            <a:off x="609600" y="2286000"/>
            <a:ext cx="510159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10"/>
              </a:lnSpc>
              <a:buNone/>
            </a:pPr>
            <a:r>
              <a:rPr lang="en-US" sz="3400" b="0" i="1" dirty="0">
                <a:solidFill>
                  <a:srgbClr val="2B3A8C"/>
                </a:solidFill>
                <a:latin typeface="Lora" pitchFamily="18" charset="0"/>
                <a:ea typeface="Lora" pitchFamily="18" charset="-122"/>
                <a:cs typeface="Lora" pitchFamily="18" charset="-120"/>
              </a:rPr>
              <a:t>Ложка, ставшая символом</a:t>
            </a:r>
            <a:endParaRPr lang="en-US" sz="3400" dirty="0"/>
          </a:p>
        </p:txBody>
      </p:sp>
      <p:pic>
        <p:nvPicPr>
          <p:cNvPr id="5" name="Image 1" descr="Хохломские ложки с росписью">    </p:cNvPr>
          <p:cNvPicPr>
            <a:picLocks noChangeAspect="1"/>
          </p:cNvPicPr>
          <p:nvPr/>
        </p:nvPicPr>
        <p:blipFill>
          <a:blip r:embed="rId2"/>
          <a:srcRect l="0" r="0" t="9167" b="9167"/>
          <a:stretch/>
        </p:blipFill>
        <p:spPr>
          <a:xfrm>
            <a:off x="0" y="4064000"/>
            <a:ext cx="6096000" cy="27940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553200" y="2095500"/>
            <a:ext cx="5166995" cy="241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F4F6F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Хохломская деревянная ложка — не просто предмет для еды. Это вещь народного быта, превращённая росписью в яркий образ русской культуры. Золотой фон, красные ягоды и гибкие чёрные ветви узнаются далеко за пределами промысла. Разберёмся, как создавали такие ложки и почему их образ продолжает жить.</a:t>
            </a:r>
            <a:endParaRPr lang="en-US" sz="1700" dirty="0"/>
          </a:p>
        </p:txBody>
      </p:sp>
      <p:sp>
        <p:nvSpPr>
          <p:cNvPr id="7" name="Text 3"/>
          <p:cNvSpPr/>
          <p:nvPr/>
        </p:nvSpPr>
        <p:spPr>
          <a:xfrm>
            <a:off x="10744200" y="6350000"/>
            <a:ext cx="106680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i="1" dirty="0">
                <a:solidFill>
                  <a:srgbClr val="C9D4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2032000"/>
          </a:xfrm>
          <a:prstGeom prst="rect">
            <a:avLst/>
          </a:prstGeom>
          <a:solidFill>
            <a:srgbClr val="374A7C"/>
          </a:solidFill>
          <a:ln/>
        </p:spPr>
      </p:sp>
      <p:pic>
        <p:nvPicPr>
          <p:cNvPr id="3" name="Image 0" descr="Волнистый край">    </p:cNvPr>
          <p:cNvPicPr>
            <a:picLocks noChangeAspect="1"/>
          </p:cNvPicPr>
          <p:nvPr/>
        </p:nvPicPr>
        <p:blipFill>
          <a:blip r:embed="rId1"/>
          <a:srcRect l="-391" r="-391" t="0" b="0"/>
          <a:stretch/>
        </p:blipFill>
        <p:spPr>
          <a:xfrm>
            <a:off x="0" y="2032000"/>
            <a:ext cx="12192000" cy="254000"/>
          </a:xfrm>
          <a:prstGeom prst="rect">
            <a:avLst/>
          </a:prstGeom>
        </p:spPr>
      </p:pic>
      <p:sp>
        <p:nvSpPr>
          <p:cNvPr id="4" name="Text 1"/>
          <p:cNvSpPr/>
          <p:nvPr>
            <p:ph type="title"/>
          </p:nvPr>
        </p:nvSpPr>
        <p:spPr>
          <a:xfrm>
            <a:off x="635000" y="762000"/>
            <a:ext cx="11249660" cy="488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0" i="1" dirty="0">
                <a:solidFill>
                  <a:srgbClr val="F4F6FB"/>
                </a:solidFill>
                <a:latin typeface="Lora" pitchFamily="18" charset="0"/>
                <a:ea typeface="Lora" pitchFamily="18" charset="-122"/>
                <a:cs typeface="Lora" pitchFamily="18" charset="-120"/>
              </a:rPr>
              <a:t>Предмет быта и знак гостеприимства</a:t>
            </a:r>
            <a:endParaRPr lang="en-US" sz="3200" dirty="0"/>
          </a:p>
        </p:txBody>
      </p:sp>
      <p:pic>
        <p:nvPicPr>
          <p:cNvPr id="5" name="Image 1" descr="Хохломская ложка в руке">    </p:cNvPr>
          <p:cNvPicPr>
            <a:picLocks noChangeAspect="1"/>
          </p:cNvPicPr>
          <p:nvPr/>
        </p:nvPicPr>
        <p:blipFill>
          <a:blip r:embed="rId2"/>
          <a:srcRect l="0" r="0" t="9404" b="9404"/>
          <a:stretch/>
        </p:blipFill>
        <p:spPr>
          <a:xfrm>
            <a:off x="635000" y="2603500"/>
            <a:ext cx="3460750" cy="37465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413250" y="2603500"/>
            <a:ext cx="340106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2B3A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Что такое хохломская ложка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4413250" y="2901950"/>
            <a:ext cx="3401060" cy="1073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C8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Точёная или вырезанная из дерева ложка, украшенная характерным орнаментом хохломской росписи. Она соединяет практичную форму, ручной труд и декоративное искусство.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8191500" y="2603500"/>
            <a:ext cx="340106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2B3A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Почему она стала визитной карточкой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8191500" y="3111500"/>
            <a:ext cx="3401060" cy="1282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C8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Ложка компактна, понятна и легко узнаваема; её орнамент связан с широко известным промыслом Нижегородского края. Поэтому она стала популярным сувениром и знаком народной художественной традиции.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4413250" y="4826000"/>
            <a:ext cx="396240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2B3A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Гостеприимство и общая трапеза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413250" y="5124450"/>
            <a:ext cx="3401060" cy="1282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C8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Ложка ассоциируется с домашним столом, угощением и совместной едой. Это культурная ассоциация, а не официальный государственный символ: гостеприимство выражается через обычай делиться пищей.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10744200" y="6350000"/>
            <a:ext cx="106680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i="1" dirty="0">
                <a:solidFill>
                  <a:srgbClr val="2B3A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2032000"/>
          </a:xfrm>
          <a:prstGeom prst="rect">
            <a:avLst/>
          </a:prstGeom>
          <a:solidFill>
            <a:srgbClr val="374A7C"/>
          </a:solidFill>
          <a:ln/>
        </p:spPr>
      </p:sp>
      <p:pic>
        <p:nvPicPr>
          <p:cNvPr id="3" name="Image 0" descr="Волнистый край">    </p:cNvPr>
          <p:cNvPicPr>
            <a:picLocks noChangeAspect="1"/>
          </p:cNvPicPr>
          <p:nvPr/>
        </p:nvPicPr>
        <p:blipFill>
          <a:blip r:embed="rId1"/>
          <a:srcRect l="-391" r="-391" t="0" b="0"/>
          <a:stretch/>
        </p:blipFill>
        <p:spPr>
          <a:xfrm>
            <a:off x="0" y="2032000"/>
            <a:ext cx="12192000" cy="254000"/>
          </a:xfrm>
          <a:prstGeom prst="rect">
            <a:avLst/>
          </a:prstGeom>
        </p:spPr>
      </p:pic>
      <p:sp>
        <p:nvSpPr>
          <p:cNvPr id="4" name="Text 1"/>
          <p:cNvSpPr/>
          <p:nvPr>
            <p:ph type="title"/>
          </p:nvPr>
        </p:nvSpPr>
        <p:spPr>
          <a:xfrm>
            <a:off x="635000" y="762000"/>
            <a:ext cx="11249660" cy="488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0" i="1" dirty="0">
                <a:solidFill>
                  <a:srgbClr val="F4F6FB"/>
                </a:solidFill>
                <a:latin typeface="Lora" pitchFamily="18" charset="0"/>
                <a:ea typeface="Lora" pitchFamily="18" charset="-122"/>
                <a:cs typeface="Lora" pitchFamily="18" charset="-120"/>
              </a:rPr>
              <a:t>Как складывался промысел</a:t>
            </a:r>
            <a:endParaRPr lang="en-US" sz="3200" dirty="0"/>
          </a:p>
        </p:txBody>
      </p:sp>
      <p:pic>
        <p:nvPicPr>
          <p:cNvPr id="5" name="Image 1" descr="Хохломской орнамент">    </p:cNvPr>
          <p:cNvPicPr>
            <a:picLocks noChangeAspect="1"/>
          </p:cNvPicPr>
          <p:nvPr/>
        </p:nvPicPr>
        <p:blipFill>
          <a:blip r:embed="rId2"/>
          <a:srcRect l="0" r="0" t="-196" b="-196"/>
          <a:stretch/>
        </p:blipFill>
        <p:spPr>
          <a:xfrm>
            <a:off x="0" y="2476500"/>
            <a:ext cx="12192000" cy="5080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635000" y="3111500"/>
            <a:ext cx="12700" cy="571500"/>
          </a:xfrm>
          <a:prstGeom prst="rect">
            <a:avLst/>
          </a:prstGeom>
          <a:solidFill>
            <a:srgbClr val="374A7C"/>
          </a:solidFill>
          <a:ln/>
        </p:spPr>
      </p:sp>
      <p:sp>
        <p:nvSpPr>
          <p:cNvPr id="7" name="Shape 3"/>
          <p:cNvSpPr/>
          <p:nvPr/>
        </p:nvSpPr>
        <p:spPr>
          <a:xfrm>
            <a:off x="3479800" y="3111500"/>
            <a:ext cx="12700" cy="571500"/>
          </a:xfrm>
          <a:prstGeom prst="rect">
            <a:avLst/>
          </a:prstGeom>
          <a:solidFill>
            <a:srgbClr val="374A7C"/>
          </a:solidFill>
          <a:ln/>
        </p:spPr>
      </p:sp>
      <p:sp>
        <p:nvSpPr>
          <p:cNvPr id="8" name="Shape 4"/>
          <p:cNvSpPr/>
          <p:nvPr/>
        </p:nvSpPr>
        <p:spPr>
          <a:xfrm>
            <a:off x="6324600" y="3111500"/>
            <a:ext cx="12700" cy="571500"/>
          </a:xfrm>
          <a:prstGeom prst="rect">
            <a:avLst/>
          </a:prstGeom>
          <a:solidFill>
            <a:srgbClr val="374A7C"/>
          </a:solidFill>
          <a:ln/>
        </p:spPr>
      </p:sp>
      <p:sp>
        <p:nvSpPr>
          <p:cNvPr id="9" name="Shape 5"/>
          <p:cNvSpPr/>
          <p:nvPr/>
        </p:nvSpPr>
        <p:spPr>
          <a:xfrm>
            <a:off x="9169400" y="3111500"/>
            <a:ext cx="12700" cy="571500"/>
          </a:xfrm>
          <a:prstGeom prst="rect">
            <a:avLst/>
          </a:prstGeom>
          <a:solidFill>
            <a:srgbClr val="374A7C"/>
          </a:solidFill>
          <a:ln/>
        </p:spPr>
      </p:sp>
      <p:sp>
        <p:nvSpPr>
          <p:cNvPr id="10" name="Text 6"/>
          <p:cNvSpPr/>
          <p:nvPr/>
        </p:nvSpPr>
        <p:spPr>
          <a:xfrm>
            <a:off x="635000" y="3810000"/>
            <a:ext cx="248539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2B3A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XVII век: истоки в Поволжье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635000" y="4318000"/>
            <a:ext cx="2485390" cy="1701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C8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Хохломская роспись оформилась в XVII веке в деревнях и селах Нижегородского Поволжья. Название связывают с торговым селом Хохлома, куда изделия свозили на продажу.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3479800" y="3810000"/>
            <a:ext cx="248539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2B3A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Мастера и торговля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479800" y="4108450"/>
            <a:ext cx="2485390" cy="1911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C8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Деревянную посуду делали в округе, расписывали и готовили к продаже. Промысел развивался благодаря сочетанию местного ремесла и торговых путей; точное происхождение отдельных приёмов описывают по-разному.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6324600" y="3810000"/>
            <a:ext cx="248539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2B3A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XIX–XX века: промысел становится известным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6324600" y="4318000"/>
            <a:ext cx="2485390" cy="1701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C8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Изделия выходят на более широкий рынок, а центром производства становится Семёнов и окружающие его населённые пункты. Хохлома превращается в узнаваемый художественный бренд региона.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9169400" y="3810000"/>
            <a:ext cx="248539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2B3A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Сегодня: ремесло и культурное наследие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9169400" y="4318000"/>
            <a:ext cx="2485390" cy="1701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C8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Хохломскую роспись продолжают применять в деревянной посуде, декоративных предметах и современных дизайнерских проектах; сохраняются как ручные, так и производственные практики.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10744200" y="6350000"/>
            <a:ext cx="106680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i="1" dirty="0">
                <a:solidFill>
                  <a:srgbClr val="2B3A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374A7C"/>
          </a:solidFill>
          <a:ln/>
        </p:spPr>
      </p:sp>
      <p:pic>
        <p:nvPicPr>
          <p:cNvPr id="3" name="Image 0" descr="Хохломской орнамент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6096000" cy="508000"/>
          </a:xfrm>
          <a:prstGeom prst="rect">
            <a:avLst/>
          </a:prstGeom>
        </p:spPr>
      </p:pic>
      <p:sp>
        <p:nvSpPr>
          <p:cNvPr id="4" name="Text 1"/>
          <p:cNvSpPr/>
          <p:nvPr>
            <p:ph type="title"/>
          </p:nvPr>
        </p:nvSpPr>
        <p:spPr>
          <a:xfrm>
            <a:off x="609600" y="2095500"/>
            <a:ext cx="510159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0" i="1" dirty="0">
                <a:solidFill>
                  <a:srgbClr val="2B3A8C"/>
                </a:solidFill>
                <a:latin typeface="Lora" pitchFamily="18" charset="0"/>
                <a:ea typeface="Lora" pitchFamily="18" charset="-122"/>
                <a:cs typeface="Lora" pitchFamily="18" charset="-120"/>
              </a:rPr>
              <a:t>Секрет «золота» без золота</a:t>
            </a:r>
            <a:endParaRPr lang="en-US" sz="3200" dirty="0"/>
          </a:p>
        </p:txBody>
      </p:sp>
      <p:pic>
        <p:nvPicPr>
          <p:cNvPr id="5" name="Image 1" descr="Золотистый узор на обратной стороне ложки">    </p:cNvPr>
          <p:cNvPicPr>
            <a:picLocks noChangeAspect="1"/>
          </p:cNvPicPr>
          <p:nvPr/>
        </p:nvPicPr>
        <p:blipFill>
          <a:blip r:embed="rId2"/>
          <a:srcRect l="0" r="0" t="29531" b="36094"/>
          <a:stretch/>
        </p:blipFill>
        <p:spPr>
          <a:xfrm>
            <a:off x="0" y="4064000"/>
            <a:ext cx="6096000" cy="27940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553200" y="1651000"/>
            <a:ext cx="5166995" cy="3378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4F6F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Золотистый блеск создаёт не листовое золото, а особая технология. Деревянную заготовку грунтуют, покрывают металлическим порошком — традиционно оловянным, — затем расписывают жаростойкими красками и лакируют. При горячей сушке лак приобретает янтарный оттенок и усиливает металлический блеск основы. Поэтому эффект называют «золотым», хотя настоящего золота в обычной технологии нет. Точные составы и последовательность операций менялись в разные периоды и мастерских.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10744200" y="6350000"/>
            <a:ext cx="106680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i="1" dirty="0">
                <a:solidFill>
                  <a:srgbClr val="C9D4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207000" cy="6858000"/>
          </a:xfrm>
          <a:prstGeom prst="rect">
            <a:avLst/>
          </a:prstGeom>
          <a:solidFill>
            <a:srgbClr val="374A7C"/>
          </a:solidFill>
          <a:ln/>
        </p:spPr>
      </p:sp>
      <p:pic>
        <p:nvPicPr>
          <p:cNvPr id="3" name="Image 0" descr="Хохломской орнамент">    </p:cNvPr>
          <p:cNvPicPr>
            <a:picLocks noChangeAspect="1"/>
          </p:cNvPicPr>
          <p:nvPr/>
        </p:nvPicPr>
        <p:blipFill>
          <a:blip r:embed="rId1"/>
          <a:srcRect l="-18" r="-18" t="0" b="0"/>
          <a:stretch/>
        </p:blipFill>
        <p:spPr>
          <a:xfrm>
            <a:off x="5207000" y="0"/>
            <a:ext cx="6985000" cy="508000"/>
          </a:xfrm>
          <a:prstGeom prst="rect">
            <a:avLst/>
          </a:prstGeom>
        </p:spPr>
      </p:pic>
      <p:sp>
        <p:nvSpPr>
          <p:cNvPr id="4" name="Text 1"/>
          <p:cNvSpPr/>
          <p:nvPr>
            <p:ph type="title"/>
          </p:nvPr>
        </p:nvSpPr>
        <p:spPr>
          <a:xfrm>
            <a:off x="635000" y="825500"/>
            <a:ext cx="418592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0" i="1" dirty="0">
                <a:solidFill>
                  <a:srgbClr val="F4F6FB"/>
                </a:solidFill>
                <a:latin typeface="Lora" pitchFamily="18" charset="0"/>
                <a:ea typeface="Lora" pitchFamily="18" charset="-122"/>
                <a:cs typeface="Lora" pitchFamily="18" charset="-120"/>
              </a:rPr>
              <a:t>Орнамент: ягоды, травка, кудрина</a:t>
            </a:r>
            <a:endParaRPr lang="en-US" sz="3200" dirty="0"/>
          </a:p>
        </p:txBody>
      </p:sp>
      <p:pic>
        <p:nvPicPr>
          <p:cNvPr id="5" name="Image 1" descr="Роспись: ягоды и травка">    </p:cNvPr>
          <p:cNvPicPr>
            <a:picLocks noChangeAspect="1"/>
          </p:cNvPicPr>
          <p:nvPr/>
        </p:nvPicPr>
        <p:blipFill>
          <a:blip r:embed="rId2"/>
          <a:srcRect l="0" r="0" t="8065" b="24194"/>
          <a:stretch/>
        </p:blipFill>
        <p:spPr>
          <a:xfrm>
            <a:off x="635000" y="3556000"/>
            <a:ext cx="3937000" cy="26670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842000" y="952500"/>
            <a:ext cx="57556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B3A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Земляника и малина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5842000" y="1282700"/>
            <a:ext cx="575564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B4C8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Ягоды — главный цветовой акцент росписи. Чаще всего в узоре узнаются земляника и малина, а также другие ягоды и листья; рисунок стилизован, а не ботанически точен.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5842000" y="2857500"/>
            <a:ext cx="57556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B3A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Травка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5842000" y="3187700"/>
            <a:ext cx="575564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B4C8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«Травка» — тонкие изогнутые стебли и листья, которые заполняют пространство между ягодами и задают узору ритм.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5842000" y="4508500"/>
            <a:ext cx="57556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B3A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Кудрина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5842000" y="4838700"/>
            <a:ext cx="575564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B4C8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Кудрина — узор из пышных завитков и листьев, который пишут на золотом, красном или чёрном фоне. Название связывают с «кудрявостью» рисунка.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10744200" y="6350000"/>
            <a:ext cx="106680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i="1" dirty="0">
                <a:solidFill>
                  <a:srgbClr val="2B3A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001000" cy="2984500"/>
          </a:xfrm>
          <a:prstGeom prst="rect">
            <a:avLst/>
          </a:prstGeom>
          <a:solidFill>
            <a:srgbClr val="374A7C"/>
          </a:solidFill>
          <a:ln/>
        </p:spPr>
      </p:sp>
      <p:sp>
        <p:nvSpPr>
          <p:cNvPr id="3" name="Shape 1"/>
          <p:cNvSpPr/>
          <p:nvPr/>
        </p:nvSpPr>
        <p:spPr>
          <a:xfrm>
            <a:off x="8001000" y="0"/>
            <a:ext cx="12700" cy="6858000"/>
          </a:xfrm>
          <a:prstGeom prst="rect">
            <a:avLst/>
          </a:prstGeom>
          <a:solidFill>
            <a:srgbClr val="374A7C"/>
          </a:solidFill>
          <a:ln/>
        </p:spPr>
      </p:sp>
      <p:pic>
        <p:nvPicPr>
          <p:cNvPr id="4" name="Image 0" descr="Хохломской орнамент">    </p:cNvPr>
          <p:cNvPicPr>
            <a:picLocks noChangeAspect="1"/>
          </p:cNvPicPr>
          <p:nvPr/>
        </p:nvPicPr>
        <p:blipFill>
          <a:blip r:embed="rId1"/>
          <a:srcRect l="-157" r="-157" t="0" b="0"/>
          <a:stretch/>
        </p:blipFill>
        <p:spPr>
          <a:xfrm>
            <a:off x="8013700" y="0"/>
            <a:ext cx="4178300" cy="506413"/>
          </a:xfrm>
          <a:prstGeom prst="rect">
            <a:avLst/>
          </a:prstGeom>
        </p:spPr>
      </p:pic>
      <p:sp>
        <p:nvSpPr>
          <p:cNvPr id="5" name="Text 2"/>
          <p:cNvSpPr/>
          <p:nvPr>
            <p:ph type="title"/>
          </p:nvPr>
        </p:nvSpPr>
        <p:spPr>
          <a:xfrm>
            <a:off x="635000" y="698500"/>
            <a:ext cx="6540500" cy="901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0" i="1" dirty="0">
                <a:solidFill>
                  <a:srgbClr val="F4F6FB"/>
                </a:solidFill>
                <a:latin typeface="Lora" pitchFamily="18" charset="0"/>
                <a:ea typeface="Lora" pitchFamily="18" charset="-122"/>
                <a:cs typeface="Lora" pitchFamily="18" charset="-120"/>
              </a:rPr>
              <a:t>Цветовая палитра и её выразительность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7700" y="3251200"/>
          <a:ext cx="6972300" cy="2572544"/>
        </p:xfrm>
        <a:graphic>
          <a:graphicData uri="http://schemas.openxmlformats.org/drawingml/2006/table">
            <a:tbl>
              <a:tblPr/>
              <a:tblGrid>
                <a:gridCol w="976122"/>
                <a:gridCol w="3207258"/>
                <a:gridCol w="2788920"/>
              </a:tblGrid>
              <a:tr h="53836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4F6F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Цвет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E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E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A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4F6F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Как работает в росписи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2F3E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E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E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A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4F6F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Распространённая ассоциация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2F3E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E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E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A7C"/>
                    </a:solidFill>
                  </a:tcPr>
                </a:tc>
              </a:tr>
              <a:tr h="74791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B3A8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Золотой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E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B3A8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Сияющий фон или просветы между элементами; металлический эффект усиливается лаком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E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B3A8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Праздничность, достаток, солнечный свет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E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836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B3A8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Красный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B3A8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Ягоды, цветы и крупные акценты на золотом фоне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B3A8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Тепло, жизненная сила, нарядность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791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B3A8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Чёрный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B3A8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Контур, стебли и выразительные детали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B3A8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Глубина и чёткий рисунок; помогает другим цветам звучать ярче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8318500" y="1460500"/>
            <a:ext cx="3335655" cy="1701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b="1" dirty="0">
                <a:solidFill>
                  <a:srgbClr val="2B3A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Цвета создают устойчивый художественный образ, но их толкования — культурные ассоциации, а не единый официальный словарь символов.</a:t>
            </a:r>
            <a:endParaRPr lang="en-US" sz="1700" dirty="0"/>
          </a:p>
        </p:txBody>
      </p:sp>
      <p:sp>
        <p:nvSpPr>
          <p:cNvPr id="8" name="Text 4"/>
          <p:cNvSpPr/>
          <p:nvPr/>
        </p:nvSpPr>
        <p:spPr>
          <a:xfrm>
            <a:off x="8318500" y="4064000"/>
            <a:ext cx="3335655" cy="1295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i="1" dirty="0">
                <a:solidFill>
                  <a:srgbClr val="2B3A8C"/>
                </a:solidFill>
                <a:latin typeface="Lora" pitchFamily="18" charset="0"/>
                <a:ea typeface="Lora" pitchFamily="18" charset="-122"/>
                <a:cs typeface="Lora" pitchFamily="18" charset="-120"/>
              </a:rPr>
              <a:t>Значения цветов сформулированы как распространённые визуально-культурные ассоциации, а не как обязательная трактовка каждого мастера.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10744200" y="6350000"/>
            <a:ext cx="106680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i="1" dirty="0">
                <a:solidFill>
                  <a:srgbClr val="2B3A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Хохломской орнамент">    </p:cNvPr>
          <p:cNvPicPr>
            <a:picLocks noChangeAspect="1"/>
          </p:cNvPicPr>
          <p:nvPr/>
        </p:nvPicPr>
        <p:blipFill>
          <a:blip r:embed="rId1"/>
          <a:srcRect l="-98" r="-98" t="0" b="0"/>
          <a:stretch/>
        </p:blipFill>
        <p:spPr>
          <a:xfrm>
            <a:off x="0" y="0"/>
            <a:ext cx="12192000" cy="1016000"/>
          </a:xfrm>
          <a:prstGeom prst="rect">
            <a:avLst/>
          </a:prstGeom>
        </p:spPr>
      </p:pic>
      <p:sp>
        <p:nvSpPr>
          <p:cNvPr id="3" name="Text 0"/>
          <p:cNvSpPr/>
          <p:nvPr>
            <p:ph type="title"/>
          </p:nvPr>
        </p:nvSpPr>
        <p:spPr>
          <a:xfrm>
            <a:off x="635000" y="1174750"/>
            <a:ext cx="1124966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90"/>
              </a:lnSpc>
              <a:buNone/>
            </a:pPr>
            <a:r>
              <a:rPr lang="en-US" sz="2600" b="0" i="1" dirty="0">
                <a:solidFill>
                  <a:srgbClr val="2B3A8C"/>
                </a:solidFill>
                <a:latin typeface="Lora" pitchFamily="18" charset="0"/>
                <a:ea typeface="Lora" pitchFamily="18" charset="-122"/>
                <a:cs typeface="Lora" pitchFamily="18" charset="-120"/>
              </a:rPr>
              <a:t>Хохлома в кино и анимации: как читать экранный образ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635000" y="1778000"/>
            <a:ext cx="3746500" cy="2120900"/>
          </a:xfrm>
          <a:prstGeom prst="rect">
            <a:avLst/>
          </a:prstGeom>
          <a:solidFill>
            <a:srgbClr val="374A7C"/>
          </a:solidFill>
          <a:ln/>
        </p:spPr>
      </p:sp>
      <p:sp>
        <p:nvSpPr>
          <p:cNvPr id="5" name="Text 2"/>
          <p:cNvSpPr/>
          <p:nvPr/>
        </p:nvSpPr>
        <p:spPr>
          <a:xfrm>
            <a:off x="812800" y="1955800"/>
            <a:ext cx="3492627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4F6F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Кино: предмет в кадре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12800" y="2254250"/>
            <a:ext cx="3492627" cy="1492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4F6F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Деревянная ложка или расписная посуда в сцене русского застолья может сразу обозначить домашний быт и традицию. Для конкретного фильма важно проверять реквизит по самому кадру: нельзя автоматически называть любую красно-золотую посуду хохломской.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635500" y="1778000"/>
            <a:ext cx="3746500" cy="2540000"/>
          </a:xfrm>
          <a:prstGeom prst="rect">
            <a:avLst/>
          </a:prstGeom>
          <a:solidFill>
            <a:srgbClr val="2D68B5"/>
          </a:solidFill>
          <a:ln/>
        </p:spPr>
      </p:sp>
      <p:sp>
        <p:nvSpPr>
          <p:cNvPr id="8" name="Text 5"/>
          <p:cNvSpPr/>
          <p:nvPr/>
        </p:nvSpPr>
        <p:spPr>
          <a:xfrm>
            <a:off x="4813300" y="1955800"/>
            <a:ext cx="3492627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4F6F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Советская анимация: «Сказка о царе Салтане»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813300" y="2463800"/>
            <a:ext cx="3492627" cy="1701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4F6F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 мультфильме Ивана Иванова-Вано (1984) показан сказочный мир, опирающийся на русскую декоративную образность. Это хороший пример экранного контекста для разговора о народном искусстве, но не доказательство присутствия конкретной хохломской ложки.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35000" y="4508500"/>
            <a:ext cx="3746500" cy="2120900"/>
          </a:xfrm>
          <a:prstGeom prst="rect">
            <a:avLst/>
          </a:prstGeom>
          <a:solidFill>
            <a:srgbClr val="2D68B5"/>
          </a:solidFill>
          <a:ln/>
        </p:spPr>
      </p:sp>
      <p:sp>
        <p:nvSpPr>
          <p:cNvPr id="11" name="Text 8"/>
          <p:cNvSpPr/>
          <p:nvPr/>
        </p:nvSpPr>
        <p:spPr>
          <a:xfrm>
            <a:off x="812800" y="4686300"/>
            <a:ext cx="3492627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4F6F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Российская анимация: «Маша и Медведь»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12800" y="5194300"/>
            <a:ext cx="3492627" cy="1282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4F6F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Сериал использует мотивы русского дома и сказочного быта; при разборе отдельной серии можно искать расписную посуду и ложки. Не всякий орнамент в кадре следует без проверки отождествлять с хохломой.</a:t>
            </a:r>
            <a:endParaRPr lang="en-US" sz="1200" dirty="0"/>
          </a:p>
        </p:txBody>
      </p:sp>
      <p:pic>
        <p:nvPicPr>
          <p:cNvPr id="13" name="Image 1" descr="Расписные хохломские ложки">    </p:cNvPr>
          <p:cNvPicPr>
            <a:picLocks noChangeAspect="1"/>
          </p:cNvPicPr>
          <p:nvPr/>
        </p:nvPicPr>
        <p:blipFill>
          <a:blip r:embed="rId2"/>
          <a:srcRect l="27554" r="27554" t="44444" b="0"/>
          <a:stretch/>
        </p:blipFill>
        <p:spPr>
          <a:xfrm>
            <a:off x="8636000" y="1778000"/>
            <a:ext cx="2921000" cy="4826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2032000"/>
          </a:xfrm>
          <a:prstGeom prst="rect">
            <a:avLst/>
          </a:prstGeom>
          <a:solidFill>
            <a:srgbClr val="374A7C"/>
          </a:solidFill>
          <a:ln/>
        </p:spPr>
      </p:sp>
      <p:pic>
        <p:nvPicPr>
          <p:cNvPr id="3" name="Image 0" descr="Волнистый край">    </p:cNvPr>
          <p:cNvPicPr>
            <a:picLocks noChangeAspect="1"/>
          </p:cNvPicPr>
          <p:nvPr/>
        </p:nvPicPr>
        <p:blipFill>
          <a:blip r:embed="rId1"/>
          <a:srcRect l="-391" r="-391" t="0" b="0"/>
          <a:stretch/>
        </p:blipFill>
        <p:spPr>
          <a:xfrm>
            <a:off x="0" y="2032000"/>
            <a:ext cx="12192000" cy="254000"/>
          </a:xfrm>
          <a:prstGeom prst="rect">
            <a:avLst/>
          </a:prstGeom>
        </p:spPr>
      </p:pic>
      <p:sp>
        <p:nvSpPr>
          <p:cNvPr id="4" name="Text 1"/>
          <p:cNvSpPr/>
          <p:nvPr>
            <p:ph type="title"/>
          </p:nvPr>
        </p:nvSpPr>
        <p:spPr>
          <a:xfrm>
            <a:off x="635000" y="635000"/>
            <a:ext cx="11249660" cy="488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0" i="1" dirty="0">
                <a:solidFill>
                  <a:srgbClr val="F4F6FB"/>
                </a:solidFill>
                <a:latin typeface="Lora" pitchFamily="18" charset="0"/>
                <a:ea typeface="Lora" pitchFamily="18" charset="-122"/>
                <a:cs typeface="Lora" pitchFamily="18" charset="-120"/>
              </a:rPr>
              <a:t>Музыка, живопись и декоративное искусство</a:t>
            </a:r>
            <a:endParaRPr lang="en-US" sz="3200" dirty="0"/>
          </a:p>
        </p:txBody>
      </p:sp>
      <p:pic>
        <p:nvPicPr>
          <p:cNvPr id="5" name="Image 1" descr="Танцоры с деревянными ложками на сцене">    </p:cNvPr>
          <p:cNvPicPr>
            <a:picLocks noChangeAspect="1"/>
          </p:cNvPicPr>
          <p:nvPr/>
        </p:nvPicPr>
        <p:blipFill>
          <a:blip r:embed="rId2"/>
          <a:srcRect l="17217" r="21044" t="0" b="0"/>
          <a:stretch/>
        </p:blipFill>
        <p:spPr>
          <a:xfrm>
            <a:off x="635000" y="2603500"/>
            <a:ext cx="3460750" cy="37465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413250" y="2603500"/>
            <a:ext cx="340106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2B3A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Музыка и ложкари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4413250" y="2901950"/>
            <a:ext cx="3401060" cy="1911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C8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Деревянные ложки служат ударным инструментом в народных ансамблях: музыканты ударяют ложками друг о друга, создавая ритм. «Калинка» — узнаваемый пример русской песни, которую исполняют в народно-сценических программах с ложкарями; конкретный состав инструментов зависит от ансамбля.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8191500" y="2603500"/>
            <a:ext cx="340106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2B3A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Изобразительное искусство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8191500" y="2901950"/>
            <a:ext cx="3401060" cy="1701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C8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Хохломские изделия сами являются произведениями декоративно-прикладного искусства. Для предметного разбора подойдут расписная ложка и чаша из семёновского промысла: можно сравнить композицию, ритм завитков и сочетание фона с ягодами.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4413250" y="5016500"/>
            <a:ext cx="340106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2B3A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Сувениры и подарки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413250" y="5314950"/>
            <a:ext cx="3401060" cy="1282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C8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Расписные ложки, матрёшки, шкатулки и магниты из Семёнова показывают, как орнамент переходит из утилитарной вещи в сувенир. На сувенире важно отличать традиционный рисунок от свободной стилизации.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10744200" y="6350000"/>
            <a:ext cx="106680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i="1" dirty="0">
                <a:solidFill>
                  <a:srgbClr val="2B3A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374A7C"/>
          </a:solidFill>
          <a:ln/>
        </p:spPr>
      </p:sp>
      <p:pic>
        <p:nvPicPr>
          <p:cNvPr id="3" name="Image 0" descr="Хохломской орнамент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6096000" cy="508000"/>
          </a:xfrm>
          <a:prstGeom prst="rect">
            <a:avLst/>
          </a:prstGeom>
        </p:spPr>
      </p:pic>
      <p:sp>
        <p:nvSpPr>
          <p:cNvPr id="4" name="Text 1"/>
          <p:cNvSpPr/>
          <p:nvPr>
            <p:ph type="title"/>
          </p:nvPr>
        </p:nvSpPr>
        <p:spPr>
          <a:xfrm>
            <a:off x="609600" y="2095500"/>
            <a:ext cx="510159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0" i="1" dirty="0">
                <a:solidFill>
                  <a:srgbClr val="2B3A8C"/>
                </a:solidFill>
                <a:latin typeface="Lora" pitchFamily="18" charset="0"/>
                <a:ea typeface="Lora" pitchFamily="18" charset="-122"/>
                <a:cs typeface="Lora" pitchFamily="18" charset="-120"/>
              </a:rPr>
              <a:t>Хохлома в современной моде и дизайне</a:t>
            </a:r>
            <a:endParaRPr lang="en-US" sz="3200" dirty="0"/>
          </a:p>
        </p:txBody>
      </p:sp>
      <p:pic>
        <p:nvPicPr>
          <p:cNvPr id="5" name="Image 1" descr="Футболка с хохломским орнаментом">    </p:cNvPr>
          <p:cNvPicPr>
            <a:picLocks noChangeAspect="1"/>
          </p:cNvPicPr>
          <p:nvPr/>
        </p:nvPicPr>
        <p:blipFill>
          <a:blip r:embed="rId2"/>
          <a:srcRect l="0" r="0" t="27083" b="27083"/>
          <a:stretch/>
        </p:blipFill>
        <p:spPr>
          <a:xfrm>
            <a:off x="0" y="4064000"/>
            <a:ext cx="6096000" cy="27940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553200" y="1651000"/>
            <a:ext cx="5166995" cy="3378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4F6F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Хохломской орнамент давно вышел за пределы деревянной посуды. Конкретный пример современной моды — коллекции и вещи российского дизайнера Дениса Симачёва, использовавшего яркие хохломские мотивы в одежде и аксессуарах. В дизайне интерьеров и предметов орнамент цитируют на текстиле, упаковке и декоре. При такой адаптации важно сохранять узнаваемую логику рисунка — ягоды, побеги, контраст и ритм, — а не ограничиваться случайной красно-золотой палитрой.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10744200" y="6350000"/>
            <a:ext cx="106680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i="1" dirty="0">
                <a:solidFill>
                  <a:srgbClr val="C9D4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Хохломская ложка в руке">    </p:cNvPr>
          <p:cNvPicPr>
            <a:picLocks noChangeAspect="1"/>
          </p:cNvPicPr>
          <p:nvPr/>
        </p:nvPicPr>
        <p:blipFill>
          <a:blip r:embed="rId1"/>
          <a:srcRect l="0" r="0" t="2353" b="2353"/>
          <a:stretch/>
        </p:blipFill>
        <p:spPr>
          <a:xfrm>
            <a:off x="6794500" y="0"/>
            <a:ext cx="5397500" cy="6858000"/>
          </a:xfrm>
          <a:prstGeom prst="rect">
            <a:avLst/>
          </a:prstGeom>
        </p:spPr>
      </p:pic>
      <p:pic>
        <p:nvPicPr>
          <p:cNvPr id="3" name="Image 1" descr="Хохломской орнамент">    </p:cNvPr>
          <p:cNvPicPr>
            <a:picLocks noChangeAspect="1"/>
          </p:cNvPicPr>
          <p:nvPr/>
        </p:nvPicPr>
        <p:blipFill>
          <a:blip r:embed="rId2"/>
          <a:srcRect l="0" r="0" t="-67" b="-67"/>
          <a:stretch/>
        </p:blipFill>
        <p:spPr>
          <a:xfrm>
            <a:off x="0" y="0"/>
            <a:ext cx="6858000" cy="1016000"/>
          </a:xfrm>
          <a:prstGeom prst="rect">
            <a:avLst/>
          </a:prstGeom>
        </p:spPr>
      </p:pic>
      <p:pic>
        <p:nvPicPr>
          <p:cNvPr id="4" name="Image 2" descr="Орнамент из лепестков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0" y="6223000"/>
            <a:ext cx="6350000" cy="635000"/>
          </a:xfrm>
          <a:prstGeom prst="rect">
            <a:avLst/>
          </a:prstGeom>
        </p:spPr>
      </p:pic>
      <p:sp>
        <p:nvSpPr>
          <p:cNvPr id="5" name="Text 0"/>
          <p:cNvSpPr/>
          <p:nvPr>
            <p:ph type="title"/>
          </p:nvPr>
        </p:nvSpPr>
        <p:spPr>
          <a:xfrm>
            <a:off x="609600" y="2286000"/>
            <a:ext cx="3662680" cy="1682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370"/>
              </a:lnSpc>
              <a:buNone/>
            </a:pPr>
            <a:r>
              <a:rPr lang="en-US" sz="3800" b="0" i="1" dirty="0">
                <a:solidFill>
                  <a:srgbClr val="2B3A8C"/>
                </a:solidFill>
                <a:latin typeface="Lora" pitchFamily="18" charset="0"/>
                <a:ea typeface="Lora" pitchFamily="18" charset="-122"/>
                <a:cs typeface="Lora" pitchFamily="18" charset="-120"/>
              </a:rPr>
              <a:t>Сохранять — значит продолжать</a:t>
            </a:r>
            <a:endParaRPr lang="en-US" sz="3800" dirty="0"/>
          </a:p>
        </p:txBody>
      </p:sp>
      <p:sp>
        <p:nvSpPr>
          <p:cNvPr id="6" name="Shape 1"/>
          <p:cNvSpPr/>
          <p:nvPr/>
        </p:nvSpPr>
        <p:spPr>
          <a:xfrm>
            <a:off x="6096000" y="2540000"/>
            <a:ext cx="4762500" cy="3035300"/>
          </a:xfrm>
          <a:prstGeom prst="rect">
            <a:avLst/>
          </a:prstGeom>
          <a:solidFill>
            <a:srgbClr val="2D68B5"/>
          </a:solidFill>
          <a:ln/>
        </p:spPr>
      </p:sp>
      <p:sp>
        <p:nvSpPr>
          <p:cNvPr id="7" name="Text 2"/>
          <p:cNvSpPr/>
          <p:nvPr/>
        </p:nvSpPr>
        <p:spPr>
          <a:xfrm>
            <a:off x="6375400" y="2819400"/>
            <a:ext cx="4329811" cy="2501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4F6F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Хохломская ложка соединяет повседневную вещь, мастерство и художественную память места. Сохранять этот культурный код — значит поддерживать ремесло, узнавать его реальные приёмы, бережно отличать традицию от стилизации и передавать знания новым поколениям. Тогда символ гостеприимства остаётся не музейной эмблемой, а живой частью современной культуры.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Хохломская ложка">
  <a:themeElements>
    <a:clrScheme name="Хохломская ложка">
      <a:dk1>
        <a:srgbClr val="3B4C8F"/>
      </a:dk1>
      <a:lt1>
        <a:srgbClr val="FBFBF8"/>
      </a:lt1>
      <a:dk2>
        <a:srgbClr val="6B78A9"/>
      </a:dk2>
      <a:lt2>
        <a:srgbClr val="E8EAEE"/>
      </a:lt2>
      <a:accent1>
        <a:srgbClr val="2D68B5"/>
      </a:accent1>
      <a:accent2>
        <a:srgbClr val="C9D4EE"/>
      </a:accent2>
      <a:accent3>
        <a:srgbClr val="9AA0A6"/>
      </a:accent3>
      <a:accent4>
        <a:srgbClr val="8892B9"/>
      </a:accent4>
      <a:accent5>
        <a:srgbClr val="A5ACC9"/>
      </a:accent5>
      <a:accent6>
        <a:srgbClr val="C1C7D9"/>
      </a:accent6>
      <a:hlink>
        <a:srgbClr val="0563C1"/>
      </a:hlink>
      <a:folHlink>
        <a:srgbClr val="954F72"/>
      </a:folHlink>
    </a:clrScheme>
    <a:fontScheme name="Хохломская ложка">
      <a:majorFont>
        <a:latin typeface="Montserra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ontserra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Хохломская ложка</dc:title>
  <dc:subject/>
  <dc:creator/>
  <cp:lastModifiedBy/>
  <cp:revision>1</cp:revision>
  <dcterms:created xsi:type="dcterms:W3CDTF">2026-10-16T07:02:10Z</dcterms:created>
  <dcterms:modified xsi:type="dcterms:W3CDTF">2026-10-16T07:02:10Z</dcterms:modified>
</cp:coreProperties>
</file>